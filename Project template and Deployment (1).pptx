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1"/>
  </p:notesMasterIdLst>
  <p:sldIdLst>
    <p:sldId id="256" r:id="rId5"/>
    <p:sldId id="2146847054" r:id="rId6"/>
    <p:sldId id="262" r:id="rId7"/>
    <p:sldId id="263" r:id="rId8"/>
    <p:sldId id="265" r:id="rId9"/>
    <p:sldId id="266" r:id="rId10"/>
    <p:sldId id="267" r:id="rId11"/>
    <p:sldId id="2146847057" r:id="rId12"/>
    <p:sldId id="2146847058" r:id="rId13"/>
    <p:sldId id="2146847059" r:id="rId14"/>
    <p:sldId id="2146847060" r:id="rId15"/>
    <p:sldId id="268" r:id="rId16"/>
    <p:sldId id="2146847055" r:id="rId17"/>
    <p:sldId id="269" r:id="rId18"/>
    <p:sldId id="2146847056"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EC2134-FE55-D600-31C0-C82AB450B7AA}" v="39" dt="2026-08-09T17:41:19.1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51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9/13/2026</a:t>
            </a:fld>
            <a:endParaRPr lang="en-US"/>
          </a:p>
        </p:txBody>
      </p:sp>
      <p:sp>
        <p:nvSpPr>
          <p:cNvPr id="9" name="Footer Placeholder 8">
            <a:extLst>
              <a:ext uri="{FF2B5EF4-FFF2-40B4-BE49-F238E27FC236}">
                <a16:creationId xmlns=""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9/13/2026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9/13/2026</a:t>
            </a:fld>
            <a:endParaRPr lang="en-US"/>
          </a:p>
        </p:txBody>
      </p:sp>
      <p:sp>
        <p:nvSpPr>
          <p:cNvPr id="9" name="Footer Placeholder 8">
            <a:extLst>
              <a:ext uri="{FF2B5EF4-FFF2-40B4-BE49-F238E27FC236}">
                <a16:creationId xmlns=""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9/13/2026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9/13/2026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9/13/2026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9/13/2026</a:t>
            </a:fld>
            <a:endParaRPr lang="en-US"/>
          </a:p>
        </p:txBody>
      </p:sp>
      <p:sp>
        <p:nvSpPr>
          <p:cNvPr id="10" name="Footer Placeholder 9">
            <a:extLst>
              <a:ext uri="{FF2B5EF4-FFF2-40B4-BE49-F238E27FC236}">
                <a16:creationId xmlns=""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9/13/2026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9/13/2026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9/13/2026</a:t>
            </a:fld>
            <a:endParaRPr lang="en-US"/>
          </a:p>
        </p:txBody>
      </p:sp>
      <p:sp>
        <p:nvSpPr>
          <p:cNvPr id="12" name="Footer Placeholder 11">
            <a:extLst>
              <a:ext uri="{FF2B5EF4-FFF2-40B4-BE49-F238E27FC236}">
                <a16:creationId xmlns=""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9/13/2026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scikit-learn.or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aicte-batch1-resume-builder-fuurng7gntvmkafiuf6own.streamlit.app/"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11E26-4C38-41A6-9857-11032CEECD80}"/>
              </a:ext>
            </a:extLst>
          </p:cNvPr>
          <p:cNvSpPr>
            <a:spLocks noGrp="1"/>
          </p:cNvSpPr>
          <p:nvPr>
            <p:ph type="ctrTitle"/>
          </p:nvPr>
        </p:nvSpPr>
        <p:spPr>
          <a:xfrm>
            <a:off x="1359108" y="1821635"/>
            <a:ext cx="9144000" cy="977778"/>
          </a:xfrm>
        </p:spPr>
        <p:txBody>
          <a:bodyPr>
            <a:noAutofit/>
          </a:bodyPr>
          <a:lstStyle/>
          <a:p>
            <a:pPr algn="ctr"/>
            <a:r>
              <a:rPr lang="en-US" sz="3200" b="1" dirty="0" smtClean="0">
                <a:solidFill>
                  <a:schemeClr val="tx1">
                    <a:lumMod val="95000"/>
                    <a:lumOff val="5000"/>
                  </a:schemeClr>
                </a:solidFill>
                <a:cs typeface="Arial" panose="020B0604020202020204" pitchFamily="34" charset="0"/>
              </a:rPr>
              <a:t>Waste  management cost predictor </a:t>
            </a:r>
            <a:br>
              <a:rPr lang="en-US" sz="3200" b="1" dirty="0" smtClean="0">
                <a:solidFill>
                  <a:schemeClr val="tx1">
                    <a:lumMod val="95000"/>
                    <a:lumOff val="5000"/>
                  </a:schemeClr>
                </a:solidFill>
                <a:cs typeface="Arial" panose="020B0604020202020204" pitchFamily="34" charset="0"/>
              </a:rPr>
            </a:br>
            <a:r>
              <a:rPr lang="en-US" sz="3200" b="1" dirty="0" smtClean="0">
                <a:solidFill>
                  <a:schemeClr val="tx1">
                    <a:lumMod val="95000"/>
                    <a:lumOff val="5000"/>
                  </a:schemeClr>
                </a:solidFill>
                <a:cs typeface="Arial" panose="020B0604020202020204" pitchFamily="34" charset="0"/>
              </a:rPr>
              <a:t>(</a:t>
            </a:r>
            <a:r>
              <a:rPr lang="en-US" sz="2000" b="1" dirty="0" smtClean="0">
                <a:solidFill>
                  <a:schemeClr val="tx1">
                    <a:lumMod val="95000"/>
                    <a:lumOff val="5000"/>
                  </a:schemeClr>
                </a:solidFill>
                <a:cs typeface="Arial" panose="020B0604020202020204" pitchFamily="34" charset="0"/>
              </a:rPr>
              <a:t>Streamlit app</a:t>
            </a:r>
            <a:r>
              <a:rPr lang="en-US" sz="3200" b="1" dirty="0" smtClean="0">
                <a:solidFill>
                  <a:schemeClr val="tx1">
                    <a:lumMod val="95000"/>
                    <a:lumOff val="5000"/>
                  </a:schemeClr>
                </a:solidFill>
                <a:cs typeface="Arial" panose="020B0604020202020204" pitchFamily="34" charset="0"/>
              </a:rPr>
              <a:t>)using machine learning</a:t>
            </a:r>
            <a:endParaRPr lang="en-US" sz="3200" b="1" dirty="0">
              <a:solidFill>
                <a:schemeClr val="tx1">
                  <a:lumMod val="95000"/>
                  <a:lumOff val="5000"/>
                </a:schemeClr>
              </a:solidFill>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698501" y="3770757"/>
            <a:ext cx="9776912" cy="1631216"/>
          </a:xfrm>
          <a:prstGeom prst="rect">
            <a:avLst/>
          </a:prstGeom>
          <a:noFill/>
        </p:spPr>
        <p:txBody>
          <a:bodyPr wrap="square" lIns="91440" tIns="45720" rIns="91440" bIns="45720" rtlCol="0" anchor="t">
            <a:spAutoFit/>
          </a:bodyPr>
          <a:lstStyle/>
          <a:p>
            <a:r>
              <a:rPr lang="en-US" sz="2000" b="1" dirty="0">
                <a:solidFill>
                  <a:schemeClr val="bg2"/>
                </a:solidFill>
                <a:latin typeface="Arial Black" pitchFamily="34" charset="0"/>
                <a:cs typeface="Arial" pitchFamily="34" charset="0"/>
              </a:rPr>
              <a:t>Presented By:</a:t>
            </a:r>
          </a:p>
          <a:p>
            <a:pPr marL="457200" indent="-457200">
              <a:buAutoNum type="arabicPeriod"/>
            </a:pPr>
            <a:r>
              <a:rPr lang="en-US" sz="2000" b="1" dirty="0">
                <a:solidFill>
                  <a:schemeClr val="bg2"/>
                </a:solidFill>
                <a:latin typeface="Arial Black" pitchFamily="34" charset="0"/>
                <a:cs typeface="Arial"/>
              </a:rPr>
              <a:t>Student </a:t>
            </a:r>
            <a:r>
              <a:rPr lang="en-US" sz="2000" b="1" dirty="0" smtClean="0">
                <a:solidFill>
                  <a:schemeClr val="bg2"/>
                </a:solidFill>
                <a:latin typeface="Arial Black" pitchFamily="34" charset="0"/>
                <a:cs typeface="Arial"/>
              </a:rPr>
              <a:t>Name- Shubhi Shukla</a:t>
            </a:r>
            <a:endParaRPr lang="en-US" sz="2000" b="1" dirty="0">
              <a:solidFill>
                <a:schemeClr val="bg2"/>
              </a:solidFill>
              <a:latin typeface="Arial Black" pitchFamily="34" charset="0"/>
              <a:cs typeface="Arial"/>
            </a:endParaRPr>
          </a:p>
          <a:p>
            <a:pPr marL="457200" indent="-457200">
              <a:buAutoNum type="arabicPeriod"/>
            </a:pPr>
            <a:r>
              <a:rPr lang="en-US" sz="2000" b="1" dirty="0">
                <a:solidFill>
                  <a:schemeClr val="bg2"/>
                </a:solidFill>
                <a:latin typeface="Arial Black" pitchFamily="34" charset="0"/>
                <a:cs typeface="Arial"/>
              </a:rPr>
              <a:t>College </a:t>
            </a:r>
            <a:r>
              <a:rPr lang="en-US" sz="2000" b="1" dirty="0" smtClean="0">
                <a:solidFill>
                  <a:schemeClr val="bg2"/>
                </a:solidFill>
                <a:latin typeface="Arial Black" pitchFamily="34" charset="0"/>
                <a:cs typeface="Arial"/>
              </a:rPr>
              <a:t>Name- Babasaheb </a:t>
            </a:r>
            <a:r>
              <a:rPr lang="en-US" sz="2000" b="1" dirty="0" err="1" smtClean="0">
                <a:solidFill>
                  <a:schemeClr val="bg2"/>
                </a:solidFill>
                <a:latin typeface="Arial Black" pitchFamily="34" charset="0"/>
                <a:cs typeface="Arial"/>
              </a:rPr>
              <a:t>Bhimrao</a:t>
            </a:r>
            <a:r>
              <a:rPr lang="en-US" sz="2000" b="1" dirty="0" smtClean="0">
                <a:solidFill>
                  <a:schemeClr val="bg2"/>
                </a:solidFill>
                <a:latin typeface="Arial Black" pitchFamily="34" charset="0"/>
                <a:cs typeface="Arial"/>
              </a:rPr>
              <a:t> </a:t>
            </a:r>
            <a:r>
              <a:rPr lang="en-US" sz="2000" b="1" dirty="0" err="1" smtClean="0">
                <a:solidFill>
                  <a:schemeClr val="bg2"/>
                </a:solidFill>
                <a:latin typeface="Arial Black" pitchFamily="34" charset="0"/>
                <a:cs typeface="Arial"/>
              </a:rPr>
              <a:t>Ambedkar</a:t>
            </a:r>
            <a:r>
              <a:rPr lang="en-US" sz="2000" b="1" dirty="0" smtClean="0">
                <a:solidFill>
                  <a:schemeClr val="bg2"/>
                </a:solidFill>
                <a:latin typeface="Arial Black" pitchFamily="34" charset="0"/>
                <a:cs typeface="Arial"/>
              </a:rPr>
              <a:t> University</a:t>
            </a:r>
            <a:endParaRPr lang="en-US" sz="2000" b="1" dirty="0">
              <a:solidFill>
                <a:schemeClr val="bg2"/>
              </a:solidFill>
              <a:latin typeface="Arial Black" pitchFamily="34" charset="0"/>
              <a:cs typeface="Arial"/>
            </a:endParaRPr>
          </a:p>
          <a:p>
            <a:pPr marL="457200" indent="-457200">
              <a:buAutoNum type="arabicPeriod"/>
            </a:pPr>
            <a:r>
              <a:rPr lang="en-US" sz="2000" b="1" dirty="0" smtClean="0">
                <a:solidFill>
                  <a:schemeClr val="bg2"/>
                </a:solidFill>
                <a:latin typeface="Arial Black" pitchFamily="34" charset="0"/>
                <a:cs typeface="Arial"/>
              </a:rPr>
              <a:t>Department- B.Sc(</a:t>
            </a:r>
            <a:r>
              <a:rPr lang="en-US" sz="2000" b="1" i="1" dirty="0" smtClean="0">
                <a:solidFill>
                  <a:schemeClr val="bg2"/>
                </a:solidFill>
                <a:latin typeface="Arial Black" pitchFamily="34" charset="0"/>
                <a:cs typeface="Arial"/>
              </a:rPr>
              <a:t>IT)</a:t>
            </a:r>
            <a:r>
              <a:rPr lang="en-US" sz="2000" b="1" dirty="0" smtClean="0">
                <a:solidFill>
                  <a:schemeClr val="bg2"/>
                </a:solidFill>
                <a:latin typeface="Arial Black" pitchFamily="34" charset="0"/>
                <a:cs typeface="Arial"/>
              </a:rPr>
              <a:t> </a:t>
            </a:r>
            <a:endParaRPr lang="en-US" sz="2000" b="1" dirty="0">
              <a:solidFill>
                <a:schemeClr val="bg2"/>
              </a:solidFill>
              <a:latin typeface="Arial Black" pitchFamily="34" charset="0"/>
              <a:cs typeface="Arial"/>
            </a:endParaRPr>
          </a:p>
          <a:p>
            <a:r>
              <a:rPr lang="en-US" sz="2000" b="1" dirty="0">
                <a:solidFill>
                  <a:schemeClr val="bg2"/>
                </a:solidFill>
                <a:latin typeface="Arial Black" pitchFamily="34" charset="0"/>
                <a:cs typeface="Arial"/>
              </a:rPr>
              <a:t>4.   AICTE </a:t>
            </a:r>
            <a:r>
              <a:rPr lang="en-US" sz="2000" b="1" dirty="0" smtClean="0">
                <a:solidFill>
                  <a:schemeClr val="bg2"/>
                </a:solidFill>
                <a:latin typeface="Arial Black" pitchFamily="34" charset="0"/>
                <a:cs typeface="Arial"/>
              </a:rPr>
              <a:t>ID – AUG00416</a:t>
            </a:r>
            <a:endParaRPr lang="en-US" sz="2000" b="1" dirty="0">
              <a:solidFill>
                <a:schemeClr val="bg2"/>
              </a:solidFill>
              <a:latin typeface="Arial Black" pitchFamily="34" charset="0"/>
              <a:cs typeface="Arial"/>
            </a:endParaRPr>
          </a:p>
        </p:txBody>
      </p:sp>
    </p:spTree>
    <p:extLst>
      <p:ext uri="{BB962C8B-B14F-4D97-AF65-F5344CB8AC3E}">
        <p14:creationId xmlns:p14="http://schemas.microsoft.com/office/powerpoint/2010/main" val="9533255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9FFEB4C-F209-4AE7-AA2B-B3C26CE2C51D}"/>
              </a:ext>
            </a:extLst>
          </p:cNvPr>
          <p:cNvSpPr>
            <a:spLocks noGrp="1"/>
          </p:cNvSpPr>
          <p:nvPr>
            <p:ph type="title"/>
          </p:nvPr>
        </p:nvSpPr>
        <p:spPr>
          <a:xfrm>
            <a:off x="849573" y="774701"/>
            <a:ext cx="10515600" cy="749300"/>
          </a:xfrm>
        </p:spPr>
        <p:txBody>
          <a:bodyPr>
            <a:normAutofit/>
          </a:bodyPr>
          <a:lstStyle/>
          <a:p>
            <a:r>
              <a:rPr lang="en-US" sz="3600"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 xmlns:a16="http://schemas.microsoft.com/office/drawing/2014/main" id="{B2678641-EEA3-4EC4-BF39-4075B0C120E8}"/>
              </a:ext>
            </a:extLst>
          </p:cNvPr>
          <p:cNvSpPr>
            <a:spLocks noGrp="1"/>
          </p:cNvSpPr>
          <p:nvPr>
            <p:ph idx="1"/>
          </p:nvPr>
        </p:nvSpPr>
        <p:spPr>
          <a:xfrm>
            <a:off x="635000" y="1003300"/>
            <a:ext cx="11019020" cy="4292600"/>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endParaRPr lang="en-US" sz="2000" dirty="0">
              <a:latin typeface="Arial"/>
              <a:cs typeface="Arial"/>
            </a:endParaRPr>
          </a:p>
          <a:p>
            <a:r>
              <a:rPr lang="en-US" sz="2000" b="1" dirty="0">
                <a:latin typeface="Arial"/>
                <a:ea typeface="+mn-lt"/>
                <a:cs typeface="Arial"/>
              </a:rPr>
              <a:t>Proposed System/Solution</a:t>
            </a:r>
            <a:endParaRPr lang="en-US" sz="2000"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p>
          <a:p>
            <a:r>
              <a:rPr lang="en-US" sz="2000" b="1" dirty="0">
                <a:latin typeface="Arial"/>
                <a:ea typeface="+mn-lt"/>
                <a:cs typeface="+mn-lt"/>
              </a:rPr>
              <a:t>Algorithm &amp; Deployment  </a:t>
            </a:r>
            <a:endParaRPr lang="en-US" sz="2000"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sz="2000"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sz="2000" dirty="0">
              <a:latin typeface="Arial"/>
              <a:cs typeface="Arial"/>
            </a:endParaRPr>
          </a:p>
          <a:p>
            <a:endParaRPr lang="en-US" sz="2000" dirty="0">
              <a:latin typeface="Arial"/>
              <a:cs typeface="Arial"/>
            </a:endParaRPr>
          </a:p>
        </p:txBody>
      </p:sp>
    </p:spTree>
    <p:extLst>
      <p:ext uri="{BB962C8B-B14F-4D97-AF65-F5344CB8AC3E}">
        <p14:creationId xmlns:p14="http://schemas.microsoft.com/office/powerpoint/2010/main" val="29001537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30392" y="1045056"/>
            <a:ext cx="11029616" cy="530296"/>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 xmlns:a16="http://schemas.microsoft.com/office/drawing/2014/main" id="{8FEE4A9C-3F57-7DA7-91FD-715C3FB47F93}"/>
              </a:ext>
            </a:extLst>
          </p:cNvPr>
          <p:cNvSpPr>
            <a:spLocks noGrp="1"/>
          </p:cNvSpPr>
          <p:nvPr>
            <p:ph idx="1"/>
          </p:nvPr>
        </p:nvSpPr>
        <p:spPr>
          <a:xfrm>
            <a:off x="452403" y="1237632"/>
            <a:ext cx="11029615" cy="4673324"/>
          </a:xfrm>
        </p:spPr>
        <p:txBody>
          <a:bodyPr/>
          <a:lstStyle/>
          <a:p>
            <a:r>
              <a:rPr lang="en-IN" sz="1800" dirty="0"/>
              <a:t>Urban cities (Delhi, Mumbai, Bengaluru, Kolkata, Chennai, Hyderabad, Pune) face </a:t>
            </a:r>
            <a:r>
              <a:rPr lang="en-IN" sz="1800" b="1" dirty="0"/>
              <a:t>waste management challenges</a:t>
            </a:r>
            <a:r>
              <a:rPr lang="en-IN" sz="1800" dirty="0"/>
              <a:t>.</a:t>
            </a:r>
          </a:p>
          <a:p>
            <a:r>
              <a:rPr lang="en-IN" sz="1800" dirty="0"/>
              <a:t>Rising </a:t>
            </a:r>
            <a:r>
              <a:rPr lang="en-IN" sz="1800" b="1" dirty="0"/>
              <a:t>waste generation (plastic, organic, e‑waste, hazardous, construction)</a:t>
            </a:r>
            <a:r>
              <a:rPr lang="en-IN" sz="1800" dirty="0"/>
              <a:t> directly impacts </a:t>
            </a:r>
            <a:r>
              <a:rPr lang="en-IN" sz="1800" b="1" dirty="0"/>
              <a:t>cost of waste management</a:t>
            </a:r>
            <a:r>
              <a:rPr lang="en-IN" sz="1800" dirty="0"/>
              <a:t> and sustainability.</a:t>
            </a:r>
          </a:p>
          <a:p>
            <a:r>
              <a:rPr lang="en-IN" sz="1800" dirty="0"/>
              <a:t>Dataset shows:</a:t>
            </a:r>
          </a:p>
          <a:p>
            <a:r>
              <a:rPr lang="en-IN" sz="1800" dirty="0"/>
              <a:t>High waste generation (e.g., Mumbai Plastic = 7456 tons/day).</a:t>
            </a:r>
          </a:p>
          <a:p>
            <a:r>
              <a:rPr lang="en-IN" sz="1800" dirty="0"/>
              <a:t>Variation in disposal methods (Composting, Recycling, Landfill, Incineration).</a:t>
            </a:r>
          </a:p>
          <a:p>
            <a:r>
              <a:rPr lang="en-IN" sz="1800" dirty="0"/>
              <a:t>Strong correlation between </a:t>
            </a:r>
            <a:r>
              <a:rPr lang="en-IN" sz="1800" b="1" dirty="0"/>
              <a:t>green technology adoption</a:t>
            </a:r>
            <a:r>
              <a:rPr lang="en-IN" sz="1800" dirty="0"/>
              <a:t> and </a:t>
            </a:r>
            <a:r>
              <a:rPr lang="en-IN" sz="1800" b="1" dirty="0"/>
              <a:t>recycling rate</a:t>
            </a:r>
            <a:r>
              <a:rPr lang="en-IN" sz="1800" dirty="0"/>
              <a:t>.</a:t>
            </a:r>
          </a:p>
          <a:p>
            <a:r>
              <a:rPr lang="en-US" sz="1800" dirty="0"/>
              <a:t>👉 Problem: </a:t>
            </a:r>
            <a:r>
              <a:rPr lang="en-US" sz="1800" i="1" dirty="0"/>
              <a:t>“How can we predict waste management cost and disposal efficiency using socio‑technical </a:t>
            </a:r>
            <a:r>
              <a:rPr lang="en-US" i="1" dirty="0"/>
              <a:t>indicators?”</a:t>
            </a:r>
            <a:endParaRPr lang="en-IN" dirty="0"/>
          </a:p>
          <a:p>
            <a:pPr marL="0" indent="0">
              <a:buNone/>
            </a:pPr>
            <a:endParaRPr lang="en-IN" dirty="0"/>
          </a:p>
        </p:txBody>
      </p:sp>
    </p:spTree>
    <p:extLst>
      <p:ext uri="{BB962C8B-B14F-4D97-AF65-F5344CB8AC3E}">
        <p14:creationId xmlns:p14="http://schemas.microsoft.com/office/powerpoint/2010/main" val="118642116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390692" y="1057756"/>
            <a:ext cx="11029616" cy="530296"/>
          </a:xfrm>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r>
              <a:rPr lang="en-US" sz="1800" dirty="0"/>
              <a:t>Use </a:t>
            </a:r>
            <a:r>
              <a:rPr lang="en-US" sz="1800" b="1" dirty="0"/>
              <a:t>Machine Learning (Random Forest)</a:t>
            </a:r>
            <a:r>
              <a:rPr lang="en-US" sz="1800" dirty="0"/>
              <a:t> to predict:</a:t>
            </a:r>
          </a:p>
          <a:p>
            <a:pPr lvl="1"/>
            <a:r>
              <a:rPr lang="en-US" sz="1800" b="1" dirty="0"/>
              <a:t>Cost of waste management (₹/ton)</a:t>
            </a:r>
            <a:endParaRPr lang="en-US" sz="1800" dirty="0"/>
          </a:p>
          <a:p>
            <a:pPr lvl="1"/>
            <a:r>
              <a:rPr lang="en-US" sz="1800" b="1" dirty="0"/>
              <a:t>Best disposal method</a:t>
            </a:r>
            <a:endParaRPr lang="en-US" sz="1800" dirty="0"/>
          </a:p>
          <a:p>
            <a:r>
              <a:rPr lang="en-US" sz="1800" dirty="0"/>
              <a:t>Features: waste type, recycling rate, population density, municipal efficiency, awareness campaigns, landfill capacity, community participation, green tech adoption.</a:t>
            </a:r>
          </a:p>
          <a:p>
            <a:r>
              <a:rPr lang="en-US" sz="1800" dirty="0"/>
              <a:t>Solution provides:</a:t>
            </a:r>
          </a:p>
          <a:p>
            <a:pPr lvl="1"/>
            <a:r>
              <a:rPr lang="en-US" sz="1800" b="1" dirty="0"/>
              <a:t>Cost prediction model</a:t>
            </a:r>
            <a:r>
              <a:rPr lang="en-US" sz="1800" dirty="0"/>
              <a:t> (Regression).</a:t>
            </a:r>
          </a:p>
          <a:p>
            <a:pPr lvl="1"/>
            <a:r>
              <a:rPr lang="en-US" sz="1800" b="1" dirty="0"/>
              <a:t>Disposal method classification</a:t>
            </a:r>
            <a:r>
              <a:rPr lang="en-US" sz="1800" dirty="0"/>
              <a:t> (Classification).</a:t>
            </a:r>
          </a:p>
          <a:p>
            <a:pPr lvl="1"/>
            <a:r>
              <a:rPr lang="en-US" sz="1800" b="1" dirty="0"/>
              <a:t>Feature importance analysis</a:t>
            </a:r>
            <a:r>
              <a:rPr lang="en-US" sz="1800" dirty="0"/>
              <a:t> (which factors matter most).</a:t>
            </a:r>
          </a:p>
          <a:p>
            <a:pPr marL="0" indent="0">
              <a:buNone/>
            </a:pPr>
            <a:endParaRPr lang="en-US" sz="1800" b="1" dirty="0"/>
          </a:p>
          <a:p>
            <a:pPr marL="305435" indent="-305435"/>
            <a:endParaRPr lang="en-IN" sz="1200" b="1" dirty="0">
              <a:latin typeface="Calibri"/>
              <a:cs typeface="Calibri"/>
            </a:endParaRPr>
          </a:p>
        </p:txBody>
      </p:sp>
    </p:spTree>
    <p:extLst>
      <p:ext uri="{BB962C8B-B14F-4D97-AF65-F5344CB8AC3E}">
        <p14:creationId xmlns:p14="http://schemas.microsoft.com/office/powerpoint/2010/main" val="32103584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 xmlns:a16="http://schemas.microsoft.com/office/drawing/2014/main" id="{C4FFAF3C-BA60-9181-132C-C36C403AAEA7}"/>
              </a:ext>
            </a:extLst>
          </p:cNvPr>
          <p:cNvSpPr>
            <a:spLocks noGrp="1"/>
          </p:cNvSpPr>
          <p:nvPr>
            <p:ph idx="1"/>
          </p:nvPr>
        </p:nvSpPr>
        <p:spPr/>
        <p:txBody>
          <a:bodyPr/>
          <a:lstStyle/>
          <a:p>
            <a:pPr marL="0" indent="0">
              <a:buNone/>
            </a:pPr>
            <a:r>
              <a:rPr lang="en-IN" sz="1800" b="1" dirty="0">
                <a:solidFill>
                  <a:srgbClr val="0F0F0F"/>
                </a:solidFill>
                <a:ea typeface="+mn-lt"/>
                <a:cs typeface="+mn-lt"/>
              </a:rPr>
              <a:t>The "System Approach" section outlines the overall strategy and methodology for developing and implementing the rental bike prediction system. Here's a suggested structure for this section:</a:t>
            </a:r>
            <a:endParaRPr lang="en-US" dirty="0"/>
          </a:p>
          <a:p>
            <a:pPr marL="305435" indent="-305435"/>
            <a:r>
              <a:rPr lang="en-IN" sz="1800" b="1" dirty="0">
                <a:solidFill>
                  <a:srgbClr val="0F0F0F"/>
                </a:solidFill>
              </a:rPr>
              <a:t>System </a:t>
            </a:r>
            <a:r>
              <a:rPr lang="en-IN" sz="1800" b="1" dirty="0" smtClean="0">
                <a:solidFill>
                  <a:srgbClr val="0F0F0F"/>
                </a:solidFill>
              </a:rPr>
              <a:t>requirements</a:t>
            </a:r>
          </a:p>
          <a:p>
            <a:r>
              <a:rPr lang="en-IN" sz="1800" b="1" dirty="0"/>
              <a:t>Libraries</a:t>
            </a:r>
            <a:r>
              <a:rPr lang="en-IN" sz="1800" dirty="0"/>
              <a:t>: Pandas, </a:t>
            </a:r>
            <a:r>
              <a:rPr lang="en-IN" sz="1800" dirty="0" err="1"/>
              <a:t>Scikit</a:t>
            </a:r>
            <a:r>
              <a:rPr lang="en-IN" sz="1800" dirty="0"/>
              <a:t>‑learn, </a:t>
            </a:r>
            <a:r>
              <a:rPr lang="en-IN" sz="1800" dirty="0" err="1"/>
              <a:t>Matplotlib</a:t>
            </a:r>
            <a:r>
              <a:rPr lang="en-IN" sz="1800" dirty="0"/>
              <a:t>, </a:t>
            </a:r>
            <a:r>
              <a:rPr lang="en-IN" sz="1800" dirty="0" err="1"/>
              <a:t>Seaborn</a:t>
            </a:r>
            <a:r>
              <a:rPr lang="en-IN" sz="1800" dirty="0"/>
              <a:t>.</a:t>
            </a:r>
          </a:p>
          <a:p>
            <a:r>
              <a:rPr lang="en-IN" sz="1800" b="1" dirty="0"/>
              <a:t>Dataset</a:t>
            </a:r>
            <a:r>
              <a:rPr lang="en-IN" sz="1800" dirty="0"/>
              <a:t>: </a:t>
            </a:r>
            <a:r>
              <a:rPr lang="en-IN" sz="1800" dirty="0" smtClean="0"/>
              <a:t>:Waste_Management_with_Extra_Features.csv</a:t>
            </a:r>
            <a:r>
              <a:rPr lang="en-IN" sz="1800" dirty="0"/>
              <a:t>.</a:t>
            </a:r>
          </a:p>
          <a:p>
            <a:r>
              <a:rPr lang="en-IN" sz="1800" b="1" dirty="0" err="1"/>
              <a:t>Preprocessing</a:t>
            </a:r>
            <a:r>
              <a:rPr lang="en-IN" sz="1800" dirty="0"/>
              <a:t>: Handle missing values, encode categorical features.</a:t>
            </a:r>
          </a:p>
          <a:p>
            <a:r>
              <a:rPr lang="en-IN" sz="1800" b="1" dirty="0"/>
              <a:t>EDA</a:t>
            </a:r>
            <a:r>
              <a:rPr lang="en-IN" sz="1800" dirty="0"/>
              <a:t>: Correlation </a:t>
            </a:r>
            <a:r>
              <a:rPr lang="en-IN" sz="1800" dirty="0" err="1"/>
              <a:t>heatmap</a:t>
            </a:r>
            <a:r>
              <a:rPr lang="en-IN" sz="1800" dirty="0"/>
              <a:t>, scatter plots (e.g., Green Tech </a:t>
            </a:r>
            <a:r>
              <a:rPr lang="en-IN" sz="1800" dirty="0" err="1"/>
              <a:t>vs</a:t>
            </a:r>
            <a:r>
              <a:rPr lang="en-IN" sz="1800" dirty="0"/>
              <a:t> Recycling Rate).</a:t>
            </a:r>
          </a:p>
          <a:p>
            <a:r>
              <a:rPr lang="en-IN" sz="1800" b="1" dirty="0"/>
              <a:t>Models</a:t>
            </a:r>
            <a:r>
              <a:rPr lang="en-IN" sz="1800" dirty="0"/>
              <a:t>:</a:t>
            </a:r>
          </a:p>
          <a:p>
            <a:r>
              <a:rPr lang="en-IN" sz="1800" dirty="0" err="1"/>
              <a:t>RandomForestRegressor</a:t>
            </a:r>
            <a:r>
              <a:rPr lang="en-IN" sz="1800" dirty="0"/>
              <a:t> → Cost prediction.</a:t>
            </a:r>
          </a:p>
          <a:p>
            <a:r>
              <a:rPr lang="en-IN" sz="1800" dirty="0" err="1"/>
              <a:t>RandomForestClassifier</a:t>
            </a:r>
            <a:r>
              <a:rPr lang="en-IN" sz="1800" dirty="0"/>
              <a:t> → Disposal method prediction.</a:t>
            </a:r>
          </a:p>
          <a:p>
            <a:pPr marL="305435" indent="-305435"/>
            <a:endParaRPr lang="en-IN" sz="1800"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66892" y="1146656"/>
            <a:ext cx="11029616" cy="530296"/>
          </a:xfrm>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 xmlns:a16="http://schemas.microsoft.com/office/drawing/2014/main" id="{F7F0871F-2198-9E37-C96F-3611AA199B60}"/>
              </a:ext>
            </a:extLst>
          </p:cNvPr>
          <p:cNvSpPr>
            <a:spLocks noGrp="1"/>
          </p:cNvSpPr>
          <p:nvPr>
            <p:ph idx="1"/>
          </p:nvPr>
        </p:nvSpPr>
        <p:spPr>
          <a:xfrm>
            <a:off x="479592" y="1136926"/>
            <a:ext cx="11029615" cy="4673324"/>
          </a:xfrm>
        </p:spPr>
        <p:txBody>
          <a:bodyPr>
            <a:normAutofit/>
          </a:bodyPr>
          <a:lstStyle/>
          <a:p>
            <a:r>
              <a:rPr lang="en-IN" sz="2000" b="1" dirty="0" smtClean="0"/>
              <a:t>Algorithm</a:t>
            </a:r>
            <a:r>
              <a:rPr lang="en-IN" sz="2000" dirty="0"/>
              <a:t>: Random Forest (robust for non‑linear relationships).</a:t>
            </a:r>
          </a:p>
          <a:p>
            <a:r>
              <a:rPr lang="en-IN" sz="2000" b="1" dirty="0"/>
              <a:t>Training</a:t>
            </a:r>
            <a:r>
              <a:rPr lang="en-IN" sz="2000" dirty="0"/>
              <a:t>: Train‑test split (80‑20).</a:t>
            </a:r>
          </a:p>
          <a:p>
            <a:r>
              <a:rPr lang="en-IN" sz="2000" b="1" dirty="0"/>
              <a:t>Prediction</a:t>
            </a:r>
            <a:r>
              <a:rPr lang="en-IN" sz="2000" dirty="0"/>
              <a:t>:</a:t>
            </a:r>
          </a:p>
          <a:p>
            <a:r>
              <a:rPr lang="en-IN" sz="2000" dirty="0"/>
              <a:t>Regression → R² score, MSE.</a:t>
            </a:r>
          </a:p>
          <a:p>
            <a:r>
              <a:rPr lang="en-IN" sz="2000" dirty="0"/>
              <a:t>Classification → Accuracy, Confusion Matrix.</a:t>
            </a:r>
          </a:p>
          <a:p>
            <a:r>
              <a:rPr lang="en-IN" sz="2000" b="1" dirty="0"/>
              <a:t>Deployment</a:t>
            </a:r>
            <a:r>
              <a:rPr lang="en-IN" sz="2000" dirty="0"/>
              <a:t>: </a:t>
            </a:r>
            <a:r>
              <a:rPr lang="en-IN" sz="2000" dirty="0" err="1"/>
              <a:t>Streamlit</a:t>
            </a:r>
            <a:r>
              <a:rPr lang="en-IN" sz="2000" dirty="0"/>
              <a:t>/</a:t>
            </a:r>
            <a:r>
              <a:rPr lang="en-IN" sz="2000" dirty="0" err="1"/>
              <a:t>Gradio</a:t>
            </a:r>
            <a:r>
              <a:rPr lang="en-IN" sz="2000" dirty="0"/>
              <a:t> app for real‑time prediction of cost &amp; disposal method</a:t>
            </a:r>
            <a:r>
              <a:rPr lang="en-IN" sz="1600" dirty="0"/>
              <a:t>.</a:t>
            </a:r>
          </a:p>
          <a:p>
            <a:pPr marL="305435" indent="-305435"/>
            <a:endParaRPr lang="en-IN" sz="1600" b="1" dirty="0"/>
          </a:p>
        </p:txBody>
      </p:sp>
    </p:spTree>
    <p:extLst>
      <p:ext uri="{BB962C8B-B14F-4D97-AF65-F5344CB8AC3E}">
        <p14:creationId xmlns:p14="http://schemas.microsoft.com/office/powerpoint/2010/main" val="41545087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92292" y="867256"/>
            <a:ext cx="11029616" cy="530296"/>
          </a:xfrm>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 xmlns:a16="http://schemas.microsoft.com/office/drawing/2014/main" id="{D3304455-6802-6CA9-8475-2F6DD1B8D409}"/>
              </a:ext>
            </a:extLst>
          </p:cNvPr>
          <p:cNvSpPr>
            <a:spLocks noGrp="1"/>
          </p:cNvSpPr>
          <p:nvPr>
            <p:ph idx="1"/>
          </p:nvPr>
        </p:nvSpPr>
        <p:spPr/>
        <p:txBody>
          <a:bodyPr>
            <a:normAutofit fontScale="85000" lnSpcReduction="20000"/>
          </a:bodyPr>
          <a:lstStyle/>
          <a:p>
            <a:pPr marL="0" indent="0">
              <a:buNone/>
            </a:pPr>
            <a:r>
              <a:rPr lang="en-IN" sz="2400" dirty="0">
                <a:solidFill>
                  <a:srgbClr val="0F0F0F"/>
                </a:solidFill>
                <a:ea typeface="+mn-lt"/>
                <a:cs typeface="+mn-lt"/>
              </a:rPr>
              <a:t>Present the results of the machine learning model in terms of its accuracy and effectiveness. Include visualizations and comparisons between predicted and actual counts to highlight the model's performance</a:t>
            </a:r>
            <a:r>
              <a:rPr lang="en-IN" sz="2400" dirty="0" smtClean="0">
                <a:solidFill>
                  <a:srgbClr val="0F0F0F"/>
                </a:solidFill>
                <a:ea typeface="+mn-lt"/>
                <a:cs typeface="+mn-lt"/>
              </a:rPr>
              <a:t>.</a:t>
            </a:r>
          </a:p>
          <a:p>
            <a:r>
              <a:rPr lang="en-US" sz="2400" dirty="0"/>
              <a:t>Regression model achieved </a:t>
            </a:r>
            <a:r>
              <a:rPr lang="en-US" sz="2400" b="1" dirty="0"/>
              <a:t>high R² score</a:t>
            </a:r>
            <a:r>
              <a:rPr lang="en-US" sz="2400" dirty="0"/>
              <a:t> and </a:t>
            </a:r>
            <a:r>
              <a:rPr lang="en-US" sz="2400" b="1" dirty="0"/>
              <a:t>low MSE</a:t>
            </a:r>
            <a:r>
              <a:rPr lang="en-US" sz="2400" dirty="0"/>
              <a:t> → good cost prediction.</a:t>
            </a:r>
          </a:p>
          <a:p>
            <a:r>
              <a:rPr lang="en-US" sz="2400" dirty="0"/>
              <a:t>Classification model achieved </a:t>
            </a:r>
            <a:r>
              <a:rPr lang="en-US" sz="2400" b="1" dirty="0"/>
              <a:t>good accuracy</a:t>
            </a:r>
            <a:r>
              <a:rPr lang="en-US" sz="2400" dirty="0"/>
              <a:t> → disposal method prediction reliable.</a:t>
            </a:r>
          </a:p>
          <a:p>
            <a:r>
              <a:rPr lang="en-US" sz="2400" b="1" dirty="0"/>
              <a:t>Feature importance chart</a:t>
            </a:r>
            <a:r>
              <a:rPr lang="en-US" sz="2400" dirty="0"/>
              <a:t> shows:</a:t>
            </a:r>
          </a:p>
          <a:p>
            <a:r>
              <a:rPr lang="en-US" sz="2400" dirty="0"/>
              <a:t>Green technology adoption, recycling infrastructure rating, community participation → most impactful.</a:t>
            </a:r>
          </a:p>
          <a:p>
            <a:r>
              <a:rPr lang="en-US" sz="2400" dirty="0"/>
              <a:t>Visualization:</a:t>
            </a:r>
          </a:p>
          <a:p>
            <a:r>
              <a:rPr lang="en-US" sz="2400" dirty="0" err="1"/>
              <a:t>Heatmap</a:t>
            </a:r>
            <a:r>
              <a:rPr lang="en-US" sz="2400" dirty="0"/>
              <a:t> of correlations.</a:t>
            </a:r>
          </a:p>
          <a:p>
            <a:r>
              <a:rPr lang="en-US" sz="2400" dirty="0"/>
              <a:t>Scatter plot (Green Tech </a:t>
            </a:r>
            <a:r>
              <a:rPr lang="en-US" sz="2400" dirty="0" err="1"/>
              <a:t>vs</a:t>
            </a:r>
            <a:r>
              <a:rPr lang="en-US" sz="2400" dirty="0"/>
              <a:t> Recycling Rate).</a:t>
            </a:r>
          </a:p>
          <a:p>
            <a:pPr>
              <a:buFont typeface="Wingdings" pitchFamily="2" charset="2"/>
              <a:buChar char="§"/>
            </a:pPr>
            <a:r>
              <a:rPr lang="en-US" sz="2400" dirty="0"/>
              <a:t>Bar chart of feature importance.</a:t>
            </a:r>
            <a:endParaRPr lang="en-IN" sz="2400" dirty="0" smtClean="0">
              <a:solidFill>
                <a:srgbClr val="0F0F0F"/>
              </a:solidFill>
              <a:ea typeface="+mn-lt"/>
              <a:cs typeface="+mn-lt"/>
            </a:endParaRPr>
          </a:p>
        </p:txBody>
      </p:sp>
    </p:spTree>
    <p:extLst>
      <p:ext uri="{BB962C8B-B14F-4D97-AF65-F5344CB8AC3E}">
        <p14:creationId xmlns:p14="http://schemas.microsoft.com/office/powerpoint/2010/main" val="148329338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2">
                    <a:lumMod val="60000"/>
                    <a:lumOff val="40000"/>
                  </a:schemeClr>
                </a:solidFill>
              </a:rPr>
              <a:t>Result (Image) </a:t>
            </a:r>
            <a:endParaRPr lang="en-IN" dirty="0">
              <a:solidFill>
                <a:schemeClr val="accent2">
                  <a:lumMod val="60000"/>
                  <a:lumOff val="40000"/>
                </a:schemeClr>
              </a:solidFill>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r="11806" b="6460"/>
          <a:stretch/>
        </p:blipFill>
        <p:spPr>
          <a:xfrm>
            <a:off x="584200" y="1308100"/>
            <a:ext cx="10922000" cy="4991100"/>
          </a:xfrm>
        </p:spPr>
      </p:pic>
    </p:spTree>
    <p:extLst>
      <p:ext uri="{BB962C8B-B14F-4D97-AF65-F5344CB8AC3E}">
        <p14:creationId xmlns:p14="http://schemas.microsoft.com/office/powerpoint/2010/main" val="7383470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618644"/>
          </a:xfrm>
        </p:spPr>
        <p:txBody>
          <a:bodyPr/>
          <a:lstStyle/>
          <a:p>
            <a:r>
              <a:rPr lang="en-IN" sz="3200" dirty="0" smtClean="0">
                <a:solidFill>
                  <a:schemeClr val="accent1">
                    <a:lumMod val="75000"/>
                  </a:schemeClr>
                </a:solidFill>
              </a:rPr>
              <a:t>(2) Result (image</a:t>
            </a:r>
            <a:r>
              <a:rPr lang="en-IN" dirty="0" smtClean="0">
                <a:solidFill>
                  <a:schemeClr val="accent1">
                    <a:lumMod val="75000"/>
                  </a:schemeClr>
                </a:solidFill>
              </a:rPr>
              <a:t>)</a:t>
            </a:r>
            <a:endParaRPr lang="en-IN" dirty="0">
              <a:solidFill>
                <a:schemeClr val="accent1">
                  <a:lumMod val="75000"/>
                </a:schemeClr>
              </a:solidFill>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t="4236" b="5708"/>
          <a:stretch/>
        </p:blipFill>
        <p:spPr>
          <a:xfrm>
            <a:off x="927100" y="1301750"/>
            <a:ext cx="10540999" cy="4972050"/>
          </a:xfrm>
          <a:prstGeom prst="rect">
            <a:avLst/>
          </a:prstGeom>
        </p:spPr>
      </p:pic>
    </p:spTree>
    <p:extLst>
      <p:ext uri="{BB962C8B-B14F-4D97-AF65-F5344CB8AC3E}">
        <p14:creationId xmlns:p14="http://schemas.microsoft.com/office/powerpoint/2010/main" val="3807575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chemeClr val="accent1">
                    <a:lumMod val="75000"/>
                  </a:schemeClr>
                </a:solidFill>
              </a:rPr>
              <a:t>(3) Result Image</a:t>
            </a:r>
            <a:endParaRPr lang="en-IN" dirty="0">
              <a:solidFill>
                <a:schemeClr val="accent1">
                  <a:lumMod val="75000"/>
                </a:schemeClr>
              </a:solidFill>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7279"/>
          <a:stretch/>
        </p:blipFill>
        <p:spPr>
          <a:xfrm>
            <a:off x="762000" y="1206500"/>
            <a:ext cx="10426700" cy="4927600"/>
          </a:xfrm>
          <a:prstGeom prst="rect">
            <a:avLst/>
          </a:prstGeom>
        </p:spPr>
      </p:pic>
    </p:spTree>
    <p:extLst>
      <p:ext uri="{BB962C8B-B14F-4D97-AF65-F5344CB8AC3E}">
        <p14:creationId xmlns:p14="http://schemas.microsoft.com/office/powerpoint/2010/main" val="3216042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solidFill>
                  <a:schemeClr val="accent1">
                    <a:lumMod val="75000"/>
                  </a:schemeClr>
                </a:solidFill>
              </a:rPr>
              <a:t>(4) Result Image</a:t>
            </a:r>
            <a:endParaRPr lang="en-IN" dirty="0">
              <a:solidFill>
                <a:schemeClr val="accent1">
                  <a:lumMod val="75000"/>
                </a:schemeClr>
              </a:solidFill>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b="6288"/>
          <a:stretch/>
        </p:blipFill>
        <p:spPr>
          <a:xfrm>
            <a:off x="927100" y="1206500"/>
            <a:ext cx="10337799" cy="4768850"/>
          </a:xfrm>
          <a:prstGeom prst="rect">
            <a:avLst/>
          </a:prstGeom>
        </p:spPr>
      </p:pic>
    </p:spTree>
    <p:extLst>
      <p:ext uri="{BB962C8B-B14F-4D97-AF65-F5344CB8AC3E}">
        <p14:creationId xmlns:p14="http://schemas.microsoft.com/office/powerpoint/2010/main" val="1756337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a:xfrm>
            <a:off x="454192" y="1019656"/>
            <a:ext cx="11029616" cy="530296"/>
          </a:xfrm>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 xmlns:a16="http://schemas.microsoft.com/office/drawing/2014/main" id="{005E46AB-32C4-4B57-A2B1-50738A64BE1B}"/>
              </a:ext>
            </a:extLst>
          </p:cNvPr>
          <p:cNvSpPr>
            <a:spLocks noGrp="1"/>
          </p:cNvSpPr>
          <p:nvPr>
            <p:ph idx="1"/>
          </p:nvPr>
        </p:nvSpPr>
        <p:spPr>
          <a:xfrm>
            <a:off x="187492" y="355600"/>
            <a:ext cx="11029615" cy="4673324"/>
          </a:xfrm>
        </p:spPr>
        <p:txBody>
          <a:bodyPr>
            <a:normAutofit/>
          </a:bodyPr>
          <a:lstStyle/>
          <a:p>
            <a:r>
              <a:rPr lang="en-US" sz="2000" dirty="0"/>
              <a:t>ML can effectively predict </a:t>
            </a:r>
            <a:r>
              <a:rPr lang="en-US" sz="2000" b="1" dirty="0"/>
              <a:t>waste management cost</a:t>
            </a:r>
            <a:r>
              <a:rPr lang="en-US" sz="2000" dirty="0"/>
              <a:t> and </a:t>
            </a:r>
            <a:r>
              <a:rPr lang="en-US" sz="2000" b="1" dirty="0"/>
              <a:t>disposal method efficiency</a:t>
            </a:r>
            <a:r>
              <a:rPr lang="en-US" sz="2000" dirty="0"/>
              <a:t>.</a:t>
            </a:r>
          </a:p>
          <a:p>
            <a:r>
              <a:rPr lang="en-US" sz="2000" dirty="0"/>
              <a:t>Strong correlation found between </a:t>
            </a:r>
            <a:r>
              <a:rPr lang="en-US" sz="2000" b="1" dirty="0"/>
              <a:t>green tech adoption</a:t>
            </a:r>
            <a:r>
              <a:rPr lang="en-US" sz="2000" dirty="0"/>
              <a:t> and </a:t>
            </a:r>
            <a:r>
              <a:rPr lang="en-US" sz="2000" b="1" dirty="0"/>
              <a:t>higher recycling rates</a:t>
            </a:r>
            <a:r>
              <a:rPr lang="en-US" sz="2000" dirty="0"/>
              <a:t>.</a:t>
            </a:r>
          </a:p>
          <a:p>
            <a:r>
              <a:rPr lang="en-US" sz="2000" dirty="0"/>
              <a:t>Helps policymakers and municipalities plan sustainable strategies.</a:t>
            </a:r>
          </a:p>
          <a:p>
            <a:r>
              <a:rPr lang="en-US" sz="2000" dirty="0"/>
              <a:t>Challenges: data quality, anomalies, categorical encoding.</a:t>
            </a:r>
          </a:p>
          <a:p>
            <a:pPr marL="305435" indent="-305435"/>
            <a:endParaRPr lang="en-IN" sz="2000" dirty="0">
              <a:solidFill>
                <a:srgbClr val="0F0F0F"/>
              </a:solidFill>
            </a:endParaRPr>
          </a:p>
        </p:txBody>
      </p:sp>
    </p:spTree>
    <p:extLst>
      <p:ext uri="{BB962C8B-B14F-4D97-AF65-F5344CB8AC3E}">
        <p14:creationId xmlns:p14="http://schemas.microsoft.com/office/powerpoint/2010/main" val="31833151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pPr marL="305435" indent="-305435"/>
            <a:r>
              <a:rPr lang="en-US" sz="2000" dirty="0">
                <a:ea typeface="+mn-lt"/>
                <a:cs typeface="+mn-lt"/>
              </a:rPr>
              <a:t>Discuss potential enhancements and expansions for the system. This could include incorporating additional data sources, optimizing the algorithm for better performance, and expanding the system. Consider the integration of emerging technologies such as  advanced machine learning techniques</a:t>
            </a:r>
            <a:r>
              <a:rPr lang="en-US" sz="2000" dirty="0" smtClean="0">
                <a:ea typeface="+mn-lt"/>
                <a:cs typeface="+mn-lt"/>
              </a:rPr>
              <a:t>.</a:t>
            </a:r>
          </a:p>
          <a:p>
            <a:r>
              <a:rPr lang="en-IN" sz="2000" dirty="0"/>
              <a:t>Integrate </a:t>
            </a:r>
            <a:r>
              <a:rPr lang="en-IN" sz="2000" b="1" dirty="0" err="1"/>
              <a:t>IoT</a:t>
            </a:r>
            <a:r>
              <a:rPr lang="en-IN" sz="2000" b="1" dirty="0"/>
              <a:t> sensors</a:t>
            </a:r>
            <a:r>
              <a:rPr lang="en-IN" sz="2000" dirty="0"/>
              <a:t> for real‑time waste tracking.</a:t>
            </a:r>
          </a:p>
          <a:p>
            <a:r>
              <a:rPr lang="en-IN" sz="2000" dirty="0"/>
              <a:t>Use </a:t>
            </a:r>
            <a:r>
              <a:rPr lang="en-IN" sz="2000" b="1" dirty="0"/>
              <a:t>advanced ML models (</a:t>
            </a:r>
            <a:r>
              <a:rPr lang="en-IN" sz="2000" b="1" dirty="0" err="1"/>
              <a:t>XGBoost</a:t>
            </a:r>
            <a:r>
              <a:rPr lang="en-IN" sz="2000" b="1" dirty="0"/>
              <a:t>, LSTM)</a:t>
            </a:r>
            <a:r>
              <a:rPr lang="en-IN" sz="2000" dirty="0"/>
              <a:t> for better accuracy.</a:t>
            </a:r>
          </a:p>
          <a:p>
            <a:r>
              <a:rPr lang="en-IN" sz="2000" dirty="0"/>
              <a:t>Expand dataset with </a:t>
            </a:r>
            <a:r>
              <a:rPr lang="en-IN" sz="2000" b="1" dirty="0"/>
              <a:t>energy consumption, AQI, industrial activity</a:t>
            </a:r>
            <a:r>
              <a:rPr lang="en-IN" sz="2000" dirty="0"/>
              <a:t>.</a:t>
            </a:r>
          </a:p>
          <a:p>
            <a:r>
              <a:rPr lang="en-IN" sz="2000" dirty="0"/>
              <a:t>Deploy system for </a:t>
            </a:r>
            <a:r>
              <a:rPr lang="en-IN" sz="2000" b="1" dirty="0"/>
              <a:t>smart city waste management planning</a:t>
            </a:r>
            <a:r>
              <a:rPr lang="en-IN" sz="2000" dirty="0"/>
              <a:t>.</a:t>
            </a:r>
          </a:p>
          <a:p>
            <a:pPr marL="0" indent="0">
              <a:buNone/>
            </a:pPr>
            <a:r>
              <a:rPr lang="en-US" sz="2000" dirty="0" smtClean="0"/>
              <a:t>.</a:t>
            </a:r>
            <a:endParaRPr lang="en-US" sz="2000" dirty="0"/>
          </a:p>
          <a:p>
            <a:pPr marL="305435" indent="-305435"/>
            <a:endParaRPr lang="en-US" sz="2000" dirty="0"/>
          </a:p>
          <a:p>
            <a:pPr marL="305435" indent="-305435"/>
            <a:endParaRPr lang="en-US" dirty="0"/>
          </a:p>
        </p:txBody>
      </p:sp>
      <p:sp>
        <p:nvSpPr>
          <p:cNvPr id="5" name="Title 4">
            <a:extLst>
              <a:ext uri="{FF2B5EF4-FFF2-40B4-BE49-F238E27FC236}">
                <a16:creationId xmlns=""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 xmlns:a16="http://schemas.microsoft.com/office/drawing/2014/main" id="{357C38BC-22B3-37B2-E0C3-812020A76077}"/>
              </a:ext>
            </a:extLst>
          </p:cNvPr>
          <p:cNvSpPr>
            <a:spLocks noGrp="1"/>
          </p:cNvSpPr>
          <p:nvPr>
            <p:ph idx="1"/>
          </p:nvPr>
        </p:nvSpPr>
        <p:spPr>
          <a:xfrm>
            <a:off x="581192" y="1752600"/>
            <a:ext cx="11029615" cy="4838700"/>
          </a:xfrm>
        </p:spPr>
        <p:txBody>
          <a:bodyPr>
            <a:normAutofit lnSpcReduction="10000"/>
          </a:bodyPr>
          <a:lstStyle/>
          <a:p>
            <a:r>
              <a:rPr lang="en-IN" sz="1800" b="1" dirty="0"/>
              <a:t>Dataset</a:t>
            </a:r>
            <a:r>
              <a:rPr lang="en-IN" sz="1800" dirty="0"/>
              <a:t>: </a:t>
            </a:r>
            <a:r>
              <a:rPr lang="en-IN" sz="1800" i="1" dirty="0"/>
              <a:t>Waste_Management_with_Extra_Features.csv</a:t>
            </a:r>
            <a:r>
              <a:rPr lang="en-IN" sz="1800" dirty="0"/>
              <a:t> (self‑compiled sustainability dataset with city‑wise waste management features).</a:t>
            </a:r>
          </a:p>
          <a:p>
            <a:r>
              <a:rPr lang="en-IN" sz="1800" b="1" dirty="0"/>
              <a:t>Libraries/Tools</a:t>
            </a:r>
            <a:r>
              <a:rPr lang="en-IN" sz="1800" dirty="0"/>
              <a:t>:</a:t>
            </a:r>
          </a:p>
          <a:p>
            <a:r>
              <a:rPr lang="en-IN" sz="1800" dirty="0"/>
              <a:t>Pandas (data </a:t>
            </a:r>
            <a:r>
              <a:rPr lang="en-IN" sz="1800" dirty="0" err="1"/>
              <a:t>preprocessing</a:t>
            </a:r>
            <a:r>
              <a:rPr lang="en-IN" sz="1800" dirty="0"/>
              <a:t>)</a:t>
            </a:r>
          </a:p>
          <a:p>
            <a:r>
              <a:rPr lang="en-IN" sz="1800" dirty="0" err="1"/>
              <a:t>Scikit</a:t>
            </a:r>
            <a:r>
              <a:rPr lang="en-IN" sz="1800" dirty="0"/>
              <a:t>‑learn (Random Forest </a:t>
            </a:r>
            <a:r>
              <a:rPr lang="en-IN" sz="1800" dirty="0" err="1"/>
              <a:t>Regressor</a:t>
            </a:r>
            <a:r>
              <a:rPr lang="en-IN" sz="1800" dirty="0"/>
              <a:t> &amp; Classifier)</a:t>
            </a:r>
          </a:p>
          <a:p>
            <a:r>
              <a:rPr lang="en-IN" sz="1800" dirty="0" err="1"/>
              <a:t>Matplotlib</a:t>
            </a:r>
            <a:r>
              <a:rPr lang="en-IN" sz="1800" dirty="0"/>
              <a:t> &amp; </a:t>
            </a:r>
            <a:r>
              <a:rPr lang="en-IN" sz="1800" dirty="0" err="1"/>
              <a:t>Seaborn</a:t>
            </a:r>
            <a:r>
              <a:rPr lang="en-IN" sz="1800" dirty="0"/>
              <a:t> (visualization)</a:t>
            </a:r>
          </a:p>
          <a:p>
            <a:r>
              <a:rPr lang="en-IN" sz="1800" b="1" dirty="0"/>
              <a:t>Machine Learning Concepts</a:t>
            </a:r>
            <a:r>
              <a:rPr lang="en-IN" sz="1800" dirty="0"/>
              <a:t>:</a:t>
            </a:r>
          </a:p>
          <a:p>
            <a:r>
              <a:rPr lang="en-IN" sz="1800" dirty="0" err="1"/>
              <a:t>Breiman</a:t>
            </a:r>
            <a:r>
              <a:rPr lang="en-IN" sz="1800" dirty="0"/>
              <a:t>, L. (2001). </a:t>
            </a:r>
            <a:r>
              <a:rPr lang="en-IN" sz="1800" i="1" dirty="0"/>
              <a:t>Random Forests</a:t>
            </a:r>
            <a:r>
              <a:rPr lang="en-IN" sz="1800" dirty="0"/>
              <a:t>. Machine Learning Journal.</a:t>
            </a:r>
          </a:p>
          <a:p>
            <a:r>
              <a:rPr lang="en-IN" sz="1800" dirty="0" err="1"/>
              <a:t>Scikit</a:t>
            </a:r>
            <a:r>
              <a:rPr lang="en-IN" sz="1800" dirty="0"/>
              <a:t>‑learn Documentation (</a:t>
            </a:r>
            <a:r>
              <a:rPr lang="en-IN" sz="1800" dirty="0">
                <a:hlinkClick r:id="rId2" tooltip="scikit-learn.org"/>
              </a:rPr>
              <a:t>https://scikit-learn.org</a:t>
            </a:r>
            <a:r>
              <a:rPr lang="en-IN" sz="1800" dirty="0" smtClean="0"/>
              <a:t>)</a:t>
            </a:r>
          </a:p>
          <a:p>
            <a:r>
              <a:rPr lang="en-IN" sz="1800" b="1" dirty="0"/>
              <a:t>Supporting Material</a:t>
            </a:r>
            <a:r>
              <a:rPr lang="en-IN" sz="1800" dirty="0"/>
              <a:t>:</a:t>
            </a:r>
          </a:p>
          <a:p>
            <a:pPr lvl="1"/>
            <a:r>
              <a:rPr lang="en-IN" sz="1800" dirty="0"/>
              <a:t>Python Standard Library — Python 3.x Documentation</a:t>
            </a:r>
          </a:p>
          <a:p>
            <a:pPr lvl="1"/>
            <a:r>
              <a:rPr lang="en-IN" sz="1800" dirty="0" err="1"/>
              <a:t>GitHub</a:t>
            </a:r>
            <a:r>
              <a:rPr lang="en-IN" sz="1800" dirty="0"/>
              <a:t> repositories on waste management ML projects (general inspiration)</a:t>
            </a:r>
          </a:p>
          <a:p>
            <a:pPr marL="0" indent="0">
              <a:buNone/>
            </a:pPr>
            <a:endParaRPr lang="en-IN" sz="1400" dirty="0" smtClean="0"/>
          </a:p>
          <a:p>
            <a:endParaRPr lang="en-IN" sz="2400" dirty="0"/>
          </a:p>
          <a:p>
            <a:pPr marL="305435" indent="-305435"/>
            <a:endParaRPr lang="en-IN" sz="2400" dirty="0"/>
          </a:p>
        </p:txBody>
      </p:sp>
    </p:spTree>
    <p:extLst>
      <p:ext uri="{BB962C8B-B14F-4D97-AF65-F5344CB8AC3E}">
        <p14:creationId xmlns:p14="http://schemas.microsoft.com/office/powerpoint/2010/main" val="7289502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4D7422-ED9D-D856-C6AD-0F1A715C2428}"/>
              </a:ext>
            </a:extLst>
          </p:cNvPr>
          <p:cNvSpPr>
            <a:spLocks noGrp="1"/>
          </p:cNvSpPr>
          <p:nvPr>
            <p:ph type="title"/>
          </p:nvPr>
        </p:nvSpPr>
        <p:spPr/>
        <p:txBody>
          <a:bodyPr/>
          <a:lstStyle/>
          <a:p>
            <a:r>
              <a:rPr lang="en-IN"/>
              <a:t>Deployment link / </a:t>
            </a:r>
            <a:r>
              <a:rPr lang="en-IN" err="1"/>
              <a:t>github</a:t>
            </a:r>
            <a:r>
              <a:rPr lang="en-IN"/>
              <a:t> link</a:t>
            </a:r>
          </a:p>
        </p:txBody>
      </p:sp>
      <p:sp>
        <p:nvSpPr>
          <p:cNvPr id="3" name="Content Placeholder 2">
            <a:extLst>
              <a:ext uri="{FF2B5EF4-FFF2-40B4-BE49-F238E27FC236}">
                <a16:creationId xmlns="" xmlns:a16="http://schemas.microsoft.com/office/drawing/2014/main" id="{618C47C2-EF01-12B0-99EA-861F9629D1D9}"/>
              </a:ext>
            </a:extLst>
          </p:cNvPr>
          <p:cNvSpPr>
            <a:spLocks noGrp="1"/>
          </p:cNvSpPr>
          <p:nvPr>
            <p:ph idx="1"/>
          </p:nvPr>
        </p:nvSpPr>
        <p:spPr>
          <a:xfrm>
            <a:off x="581192" y="1302026"/>
            <a:ext cx="11029615" cy="1631674"/>
          </a:xfrm>
        </p:spPr>
        <p:txBody>
          <a:bodyPr/>
          <a:lstStyle/>
          <a:p>
            <a:pPr marL="305435" indent="-305435"/>
            <a:r>
              <a:rPr lang="en-IN" dirty="0" err="1"/>
              <a:t>Github</a:t>
            </a:r>
            <a:r>
              <a:rPr lang="en-IN" dirty="0"/>
              <a:t> Link: https://github.com/shubhishukla282006-boop/waste_management_ML.git</a:t>
            </a:r>
            <a:endParaRPr lang="en-US" dirty="0"/>
          </a:p>
          <a:p>
            <a:pPr marL="305435" indent="-305435"/>
            <a:r>
              <a:rPr lang="en-IN" dirty="0" smtClean="0"/>
              <a:t>Deployment</a:t>
            </a:r>
            <a:r>
              <a:rPr lang="en-IN" dirty="0"/>
              <a:t> Link : https://wastemanagementml-attespxrr4z9sw6nvc774z.streamlit.app/</a:t>
            </a:r>
          </a:p>
          <a:p>
            <a:pPr marL="305435" indent="-305435"/>
            <a:r>
              <a:rPr lang="en-IN" dirty="0" err="1" smtClean="0">
                <a:hlinkClick r:id="rId2"/>
              </a:rPr>
              <a:t>Streamlit</a:t>
            </a:r>
            <a:r>
              <a:rPr lang="en-IN" dirty="0" smtClean="0"/>
              <a:t>  </a:t>
            </a:r>
            <a:endParaRPr lang="en-IN" dirty="0"/>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3763" t="17038" r="17172" b="4584"/>
          <a:stretch/>
        </p:blipFill>
        <p:spPr>
          <a:xfrm>
            <a:off x="2032000" y="2324100"/>
            <a:ext cx="9207500" cy="4140200"/>
          </a:xfrm>
          <a:prstGeom prst="rect">
            <a:avLst/>
          </a:prstGeom>
        </p:spPr>
      </p:pic>
    </p:spTree>
    <p:extLst>
      <p:ext uri="{BB962C8B-B14F-4D97-AF65-F5344CB8AC3E}">
        <p14:creationId xmlns:p14="http://schemas.microsoft.com/office/powerpoint/2010/main" val="2588529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timing>
    <p:tnLst>
      <p:par>
        <p:cTn id="1" dur="indefinite" restart="never" nodeType="tmRoot"/>
      </p:par>
    </p:tnLst>
  </p:timing>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purl.org/dc/dcmitype/"/>
    <ds:schemaRef ds:uri="http://purl.org/dc/elements/1.1/"/>
    <ds:schemaRef ds:uri="c0fa2617-96bd-425d-8578-e93563fe37c5"/>
    <ds:schemaRef ds:uri="9162bd5b-4ed9-4da3-b376-05204580ba3f"/>
    <ds:schemaRef ds:uri="http://www.w3.org/XML/1998/namespace"/>
  </ds:schemaRefs>
</ds:datastoreItem>
</file>

<file path=customXml/itemProps2.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Future forward</Template>
  <TotalTime>95</TotalTime>
  <Words>645</Words>
  <Application>Microsoft Office PowerPoint</Application>
  <PresentationFormat>Custom</PresentationFormat>
  <Paragraphs>96</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DividendVTI</vt:lpstr>
      <vt:lpstr>Waste  management cost predictor  (Streamlit app)using machine learning</vt:lpstr>
      <vt:lpstr>OUTLINE</vt:lpstr>
      <vt:lpstr>Problem Statement</vt:lpstr>
      <vt:lpstr>Proposed Solution</vt:lpstr>
      <vt:lpstr>System  Approach</vt:lpstr>
      <vt:lpstr>Algorithm &amp; Deployment</vt:lpstr>
      <vt:lpstr>Result</vt:lpstr>
      <vt:lpstr>Result (Image) </vt:lpstr>
      <vt:lpstr>(2) Result (image)</vt:lpstr>
      <vt:lpstr>(3) Result Image</vt:lpstr>
      <vt:lpstr>(4) Result Image</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Shubhi Shukla</cp:lastModifiedBy>
  <cp:revision>15</cp:revision>
  <dcterms:created xsi:type="dcterms:W3CDTF">2021-05-26T16:50:10Z</dcterms:created>
  <dcterms:modified xsi:type="dcterms:W3CDTF">2026-09-13T13:00:26Z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